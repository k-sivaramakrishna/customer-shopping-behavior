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2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23B63"/>
                </a:solidFill>
                <a:latin typeface="Aptos Display"/>
              </a:defRPr>
            </a:pPr>
            <a:r>
              <a:t>Customer Shopping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375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64696E"/>
                </a:solidFill>
                <a:latin typeface="Aptos"/>
              </a:defRPr>
            </a:pPr>
            <a:r>
              <a:t>Data Analyst Business Insights &amp; Growth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25196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323"/>
                </a:solidFill>
                <a:latin typeface="Aptos"/>
              </a:defRPr>
            </a:pPr>
            <a:r>
              <a:t>Sales growth • Customer retention • Discount optimization • Return-order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6E"/>
                </a:solidFill>
                <a:latin typeface="Aptos"/>
              </a:defRPr>
            </a:pPr>
            <a:r>
              <a:t>Customer Shopping Behavior Analysis  |  Data Analyst Presentation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B63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96E"/>
                </a:solidFill>
                <a:latin typeface="Aptos"/>
              </a:defRPr>
            </a:pPr>
            <a:r>
              <a:t>What the analysis shows and where the business can 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560320" cy="1005840"/>
          </a:xfrm>
          <a:prstGeom prst="roundRect">
            <a:avLst/>
          </a:prstGeom>
          <a:solidFill>
            <a:srgbClr val="EFF6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52728"/>
            <a:ext cx="234086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ptos Display"/>
              </a:defRPr>
            </a:pPr>
            <a:r>
              <a:t>3,900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46504"/>
            <a:ext cx="23408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696E"/>
                </a:solidFill>
                <a:latin typeface="Aptos"/>
              </a:defRPr>
            </a:pPr>
            <a:r>
              <a:t>Customer purchase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143000"/>
            <a:ext cx="2560320" cy="1005840"/>
          </a:xfrm>
          <a:prstGeom prst="roundRect">
            <a:avLst/>
          </a:prstGeom>
          <a:solidFill>
            <a:srgbClr val="EFF6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252728"/>
            <a:ext cx="234086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ptos Display"/>
              </a:defRPr>
            </a:pPr>
            <a:r>
              <a:t>$59.76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1746504"/>
            <a:ext cx="23408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696E"/>
                </a:solidFill>
                <a:latin typeface="Aptos"/>
              </a:defRPr>
            </a:pPr>
            <a:r>
              <a:t>Average purchase amount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143000"/>
            <a:ext cx="2560320" cy="1005840"/>
          </a:xfrm>
          <a:prstGeom prst="roundRect">
            <a:avLst/>
          </a:prstGeom>
          <a:solidFill>
            <a:srgbClr val="EFF6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53328" y="1252728"/>
            <a:ext cx="234086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ptos Display"/>
              </a:defRPr>
            </a:pPr>
            <a:r>
              <a:t>3.75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328" y="1746504"/>
            <a:ext cx="23408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696E"/>
                </a:solidFill>
                <a:latin typeface="Aptos"/>
              </a:defRPr>
            </a:pPr>
            <a:r>
              <a:t>Average review rating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143000"/>
            <a:ext cx="2560320" cy="1005840"/>
          </a:xfrm>
          <a:prstGeom prst="roundRect">
            <a:avLst/>
          </a:prstGeom>
          <a:solidFill>
            <a:srgbClr val="EFF6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0807" y="1252728"/>
            <a:ext cx="234086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ptos Display"/>
              </a:defRPr>
            </a:pPr>
            <a:r>
              <a:t>57%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0807" y="1746504"/>
            <a:ext cx="23408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696E"/>
                </a:solidFill>
                <a:latin typeface="Aptos"/>
              </a:defRPr>
            </a:pPr>
            <a:r>
              <a:t>Purchases without discount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468880"/>
            <a:ext cx="53492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2468880"/>
            <a:ext cx="64008" cy="3429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2606040"/>
            <a:ext cx="50017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63"/>
                </a:solidFill>
                <a:latin typeface="Aptos"/>
              </a:defRPr>
            </a:pPr>
            <a:r>
              <a:t>Observed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035808"/>
            <a:ext cx="50017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Blouse, Shirt and Dress are among the highest-revenue items in the supplied dashboard.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Every 3 Months is the largest purchase-frequency group shown in the dashboard.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2,223 of 3,900 purchases have no discount applied (57%).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The dataset contains 25 products, 4 categories and 50 locations.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468880"/>
            <a:ext cx="53492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468880"/>
            <a:ext cx="64008" cy="3429000"/>
          </a:xfrm>
          <a:prstGeom prst="rect">
            <a:avLst/>
          </a:prstGeom>
          <a:solidFill>
            <a:srgbClr val="27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2606040"/>
            <a:ext cx="50017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63"/>
                </a:solidFill>
                <a:latin typeface="Aptos"/>
              </a:defRPr>
            </a:pPr>
            <a:r>
              <a:t>Business opportunity areas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035808"/>
            <a:ext cx="50017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Use high-revenue products to build bundles and cross-sell offers.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Test targeted promotions instead of blanket discounts.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Use repeat-purchase behavior to design retention campaigns.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Track return rate and return reasons before making return-reduction claims.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6E"/>
                </a:solidFill>
                <a:latin typeface="Aptos"/>
              </a:defRPr>
            </a:pPr>
            <a:r>
              <a:t>Customer Shopping Behavior Analysis  |  Data Analyst Presentation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B63"/>
                </a:solidFill>
                <a:latin typeface="Aptos Display"/>
              </a:defRPr>
            </a:pPr>
            <a:r>
              <a:t>Dataset &amp;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96E"/>
                </a:solidFill>
                <a:latin typeface="Aptos"/>
              </a:defRPr>
            </a:pPr>
            <a:r>
              <a:t>The notebook documents the preparation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64008" cy="44805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280160"/>
            <a:ext cx="5047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63"/>
                </a:solidFill>
                <a:latin typeface="Aptos"/>
              </a:defRPr>
            </a:pPr>
            <a:r>
              <a:t>Dataset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5047488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3,900 rows and 18 original columns.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Age range: 18–70; mean age: 44.1.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Purchase amount range: $20–$100; mean: $59.76.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25 products across 4 categories.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37 missing review ratings were handled using category-level median imputation.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New fields: age_group and purchase_frequency_days.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430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64008" cy="4480560"/>
          </a:xfrm>
          <a:prstGeom prst="rect">
            <a:avLst/>
          </a:prstGeom>
          <a:solidFill>
            <a:srgbClr val="DE8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280160"/>
            <a:ext cx="50017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63"/>
                </a:solidFill>
                <a:latin typeface="Aptos"/>
              </a:defRPr>
            </a:pPr>
            <a:r>
              <a:t>Analytical 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709928"/>
            <a:ext cx="5001768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Standardized column names to snake_case.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Removed promo_code_used because it matched discount_applied for all rows.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Loaded the prepared table into PostgreSQL for SQL analysis.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SQL layer covers revenue, ratings, discounts, subscriptions, segmentation, product ranking and age-group revenue.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6E"/>
                </a:solidFill>
                <a:latin typeface="Aptos"/>
              </a:defRPr>
            </a:pPr>
            <a:r>
              <a:t>Customer Shopping Behavior Analysis  |  Data Analyst Presentation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B63"/>
                </a:solidFill>
                <a:latin typeface="Aptos Display"/>
              </a:defRPr>
            </a:pPr>
            <a:r>
              <a:t>Dashboard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96E"/>
                </a:solidFill>
                <a:latin typeface="Aptos"/>
              </a:defRPr>
            </a:pPr>
            <a:r>
              <a:t>Power BI view supplied with the project</a:t>
            </a:r>
          </a:p>
        </p:txBody>
      </p:sp>
      <p:pic>
        <p:nvPicPr>
          <p:cNvPr id="5" name="Picture 4" descr="10d4b3ac-6669-4a3d-b5bc-b38ed701b0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64240" cy="59861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6E"/>
                </a:solidFill>
                <a:latin typeface="Aptos"/>
              </a:defRPr>
            </a:pPr>
            <a:r>
              <a:t>Customer Shopping Behavior Analysis  |  Data Analyst Presentation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B63"/>
                </a:solidFill>
                <a:latin typeface="Aptos Display"/>
              </a:defRPr>
            </a:pPr>
            <a:r>
              <a:t>Key Customer &amp; Product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96E"/>
                </a:solidFill>
                <a:latin typeface="Aptos"/>
              </a:defRPr>
            </a:pPr>
            <a:r>
              <a:t>Interpretation limited to metrics visible in the supplied dashboard and notebook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2743200" cy="329184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133856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CUSTOMER BEHAVIOR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097280"/>
            <a:ext cx="2743200" cy="329184"/>
          </a:xfrm>
          <a:prstGeom prst="roundRect">
            <a:avLst/>
          </a:prstGeom>
          <a:solidFill>
            <a:srgbClr val="27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133856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PRODUCT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097280"/>
            <a:ext cx="2743200" cy="329184"/>
          </a:xfrm>
          <a:prstGeom prst="roundRect">
            <a:avLst/>
          </a:prstGeom>
          <a:solidFill>
            <a:srgbClr val="DE8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133856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DISCOUNT BEHAVIOR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1097280"/>
            <a:ext cx="1828800" cy="329184"/>
          </a:xfrm>
          <a:prstGeom prst="roundRect">
            <a:avLst/>
          </a:prstGeom>
          <a:solidFill>
            <a:srgbClr val="12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19" y="1133856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RETENTION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572768"/>
            <a:ext cx="2697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1572768"/>
            <a:ext cx="64008" cy="4206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1709928"/>
            <a:ext cx="23500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63"/>
                </a:solidFill>
                <a:latin typeface="Apto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795528" y="2139696"/>
            <a:ext cx="2350008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Every 3 Months: 584 purchases shown.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Annually: 572.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Quarterly: 563.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Monthly: 553.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Bi-Weekly: 547.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Fortnightly: 542.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Weekly: 539.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1572768"/>
            <a:ext cx="2697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66160" y="1572768"/>
            <a:ext cx="64008" cy="4206240"/>
          </a:xfrm>
          <a:prstGeom prst="rect">
            <a:avLst/>
          </a:prstGeom>
          <a:solidFill>
            <a:srgbClr val="27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67328" y="1709928"/>
            <a:ext cx="23500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63"/>
                </a:solidFill>
                <a:latin typeface="Apto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3767328" y="2139696"/>
            <a:ext cx="2350008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Blouse: about $10.4K revenue.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Shirt: about $10.3K.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Dress: about $10.3K.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Pants: about $10.1K.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Jewelry: about $10.0K.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These are dashboard values, rounded.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1572768"/>
            <a:ext cx="2697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37960" y="1572768"/>
            <a:ext cx="64008" cy="4206240"/>
          </a:xfrm>
          <a:prstGeom prst="rect">
            <a:avLst/>
          </a:prstGeom>
          <a:solidFill>
            <a:srgbClr val="DE8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1709928"/>
            <a:ext cx="23500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63"/>
                </a:solidFill>
                <a:latin typeface="Aptos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739128" y="2139696"/>
            <a:ext cx="2350008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57% of purchases show no discount.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About 43% show a discount.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Discount analysis should compare margin and purchase value, not only order count.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Q2 and Q6 specifically examine discounted purchases.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1572768"/>
            <a:ext cx="20116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1572768"/>
            <a:ext cx="64008" cy="4206240"/>
          </a:xfrm>
          <a:prstGeom prst="rect">
            <a:avLst/>
          </a:prstGeom>
          <a:solidFill>
            <a:srgbClr val="12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0928" y="1709928"/>
            <a:ext cx="16642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63"/>
                </a:solidFill>
                <a:latin typeface="Aptos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9710928" y="2139696"/>
            <a:ext cx="1664208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Previous purchases are available.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Subscription status is available.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This supports repeat-buyer and subscriber analysis.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Q7 segments New, Returning and Loyal customers.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6E"/>
                </a:solidFill>
                <a:latin typeface="Aptos"/>
              </a:defRPr>
            </a:pPr>
            <a:r>
              <a:t>Customer Shopping Behavior Analysis  |  Data Analyst Presentation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B63"/>
                </a:solidFill>
                <a:latin typeface="Aptos Display"/>
              </a:defRPr>
            </a:pPr>
            <a:r>
              <a:t>How to Increase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96E"/>
                </a:solidFill>
                <a:latin typeface="Aptos"/>
              </a:defRPr>
            </a:pPr>
            <a:r>
              <a:t>Data-driven initiatives to test using the existing fields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35204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64008" cy="21488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280160"/>
            <a:ext cx="3172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63"/>
                </a:solidFill>
                <a:latin typeface="Aptos"/>
              </a:defRPr>
            </a:pPr>
            <a:r>
              <a:t>1. Increase basket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31729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Bundle high-revenue products such as Blouse/Shirt/Dress with complementary items.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Measure average order value before vs. after bundling.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143000"/>
            <a:ext cx="35204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143000"/>
            <a:ext cx="64008" cy="2148840"/>
          </a:xfrm>
          <a:prstGeom prst="rect">
            <a:avLst/>
          </a:prstGeom>
          <a:solidFill>
            <a:srgbClr val="27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280160"/>
            <a:ext cx="3172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63"/>
                </a:solidFill>
                <a:latin typeface="Aptos"/>
              </a:defRPr>
            </a:pPr>
            <a:r>
              <a:t>2. Improve repeat purchases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1709928"/>
            <a:ext cx="31729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Use previous_purchases and purchase frequency to identify customers due for their next purchase.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Test reminder campaigns around the observed purchase cycles.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5204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64008" cy="2148840"/>
          </a:xfrm>
          <a:prstGeom prst="rect">
            <a:avLst/>
          </a:prstGeom>
          <a:solidFill>
            <a:srgbClr val="DE8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280160"/>
            <a:ext cx="3172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63"/>
                </a:solidFill>
                <a:latin typeface="Aptos"/>
              </a:defRPr>
            </a:pPr>
            <a:r>
              <a:t>3. Target discounts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709928"/>
            <a:ext cx="31729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Avoid treating every customer equally.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Test discounts for customers/items where incremental revenue exceeds discount cost.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35204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566160"/>
            <a:ext cx="64008" cy="2148840"/>
          </a:xfrm>
          <a:prstGeom prst="rect">
            <a:avLst/>
          </a:prstGeom>
          <a:solidFill>
            <a:srgbClr val="12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703320"/>
            <a:ext cx="3172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63"/>
                </a:solidFill>
                <a:latin typeface="Aptos"/>
              </a:defRPr>
            </a:pPr>
            <a:r>
              <a:t>4. Subscription 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133087"/>
            <a:ext cx="31729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Compare subscribers vs. non-subscribers using average spend, total revenue and repeat purchases.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Use the SQL Q5 framework to measure the relationship.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3566160"/>
            <a:ext cx="35204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3566160"/>
            <a:ext cx="64008" cy="21488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17136" y="3703320"/>
            <a:ext cx="3172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63"/>
                </a:solidFill>
                <a:latin typeface="Aptos"/>
              </a:defRPr>
            </a:pPr>
            <a:r>
              <a:t>5. Cross-sell by category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4133087"/>
            <a:ext cx="31729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Use the category + item ranking query to identify the most purchased products within each category.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Create category-based recommendations.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566160"/>
            <a:ext cx="35204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566160"/>
            <a:ext cx="64008" cy="2148840"/>
          </a:xfrm>
          <a:prstGeom prst="rect">
            <a:avLst/>
          </a:prstGeom>
          <a:solidFill>
            <a:srgbClr val="27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3703320"/>
            <a:ext cx="3172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63"/>
                </a:solidFill>
                <a:latin typeface="Aptos"/>
              </a:defRPr>
            </a:pPr>
            <a:r>
              <a:t>6. Monitor product-level revenue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4133087"/>
            <a:ext cx="31729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Track revenue and order volume by item weekly/monthly.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Separate high-volume products from high-value products.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6E"/>
                </a:solidFill>
                <a:latin typeface="Aptos"/>
              </a:defRPr>
            </a:pPr>
            <a:r>
              <a:t>Customer Shopping Behavior Analysis  |  Data Analyst Presentation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B63"/>
                </a:solidFill>
                <a:latin typeface="Aptos Display"/>
              </a:defRPr>
            </a:pPr>
            <a:r>
              <a:t>Return Orders: What We Can and Cannot Conclude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96E"/>
                </a:solidFill>
                <a:latin typeface="Aptos"/>
              </a:defRPr>
            </a:pPr>
            <a:r>
              <a:t>Important data limitation in the current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64008" cy="448056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25880"/>
            <a:ext cx="49560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63"/>
                </a:solidFill>
                <a:latin typeface="Aptos"/>
              </a:defRPr>
            </a:pPr>
            <a:r>
              <a:t>Current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755648"/>
            <a:ext cx="4956048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The supplied notebook contains no return_status / returned_order field.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There is no return date or return reason.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Therefore, the current analysis cannot calculate return rate or identify the actual products causing returns.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Size, item, category, season, shipping type, payment method and review rating are available and can become return-driver features once return records are joined.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64008" cy="4480560"/>
          </a:xfrm>
          <a:prstGeom prst="rect">
            <a:avLst/>
          </a:prstGeom>
          <a:solidFill>
            <a:srgbClr val="27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325880"/>
            <a:ext cx="49560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63"/>
                </a:solidFill>
                <a:latin typeface="Aptos"/>
              </a:defRPr>
            </a:pPr>
            <a:r>
              <a:t>What to add 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755648"/>
            <a:ext cx="4956048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Return Status: Yes / No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Return Reason: size, quality, damaged, wrong item, late delivery, changed mind, etc.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Return Date and Delivery Date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Return Quantity and Refund Amount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Order ID linking each purchase to its fulfillment/return record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Then calculate return rate by item, size, category, shipping type, location and season.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6E"/>
                </a:solidFill>
                <a:latin typeface="Aptos"/>
              </a:defRPr>
            </a:pPr>
            <a:r>
              <a:t>Customer Shopping Behavior Analysis  |  Data Analyst Presentation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B63"/>
                </a:solidFill>
                <a:latin typeface="Aptos Display"/>
              </a:defRPr>
            </a:pPr>
            <a:r>
              <a:t>How to Reduce Return Orders Once Return Data Is 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96E"/>
                </a:solidFill>
                <a:latin typeface="Aptos"/>
              </a:defRPr>
            </a:pPr>
            <a:r>
              <a:t>Operational actions tied to measurable return drivers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2423160" cy="329184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33856"/>
            <a:ext cx="2240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Size-related returns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088136"/>
            <a:ext cx="8092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323"/>
                </a:solidFill>
                <a:latin typeface="Aptos"/>
              </a:defRPr>
            </a:pPr>
            <a:r>
              <a:t>Analyze return rate by size + item. Improve size charts and product measurements where return concentration is high.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2423160" cy="329184"/>
          </a:xfrm>
          <a:prstGeom prst="roundRect">
            <a:avLst/>
          </a:prstGeom>
          <a:solidFill>
            <a:srgbClr val="27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93976"/>
            <a:ext cx="2240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Product-quality returns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048256"/>
            <a:ext cx="8092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323"/>
                </a:solidFill>
                <a:latin typeface="Aptos"/>
              </a:defRPr>
            </a:pPr>
            <a:r>
              <a:t>Compare return rate with review rating and product. Investigate items with both low ratings and high returns.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17520"/>
            <a:ext cx="2423160" cy="329184"/>
          </a:xfrm>
          <a:prstGeom prst="roundRect">
            <a:avLst/>
          </a:prstGeom>
          <a:solidFill>
            <a:srgbClr val="DE8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54096"/>
            <a:ext cx="2240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Wrong-item / fulfillment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008376"/>
            <a:ext cx="8092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323"/>
                </a:solidFill>
                <a:latin typeface="Aptos"/>
              </a:defRPr>
            </a:pPr>
            <a:r>
              <a:t>Track SKU/order accuracy and fulfillment errors; improve picking and packing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2423160" cy="329184"/>
          </a:xfrm>
          <a:prstGeom prst="roundRect">
            <a:avLst/>
          </a:prstGeom>
          <a:solidFill>
            <a:srgbClr val="12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14215"/>
            <a:ext cx="2240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Delivery-related returns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968496"/>
            <a:ext cx="8092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323"/>
                </a:solidFill>
                <a:latin typeface="Aptos"/>
              </a:defRPr>
            </a:pPr>
            <a:r>
              <a:t>Compare returns by shipping type and delivery delay; investigate late-delivery patterns.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937759"/>
            <a:ext cx="2423160" cy="329184"/>
          </a:xfrm>
          <a:prstGeom prst="round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74336"/>
            <a:ext cx="2240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Expectation mismatch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928616"/>
            <a:ext cx="8092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323"/>
                </a:solidFill>
                <a:latin typeface="Aptos"/>
              </a:defRPr>
            </a:pPr>
            <a:r>
              <a:t>Use product descriptions, images and material/specification details to reduce customer expectation gaps.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806440"/>
            <a:ext cx="106984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5806440"/>
            <a:ext cx="64008" cy="502920"/>
          </a:xfrm>
          <a:prstGeom prst="rect">
            <a:avLst/>
          </a:prstGeom>
          <a:solidFill>
            <a:srgbClr val="27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943600"/>
            <a:ext cx="103510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63"/>
                </a:solidFill>
                <a:latin typeface="Aptos"/>
              </a:defRPr>
            </a:pPr>
            <a:r>
              <a:t>Success metric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6373368"/>
            <a:ext cx="10351007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Target lower return rate without reducing customer satisfaction or revenue.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6E"/>
                </a:solidFill>
                <a:latin typeface="Aptos"/>
              </a:defRPr>
            </a:pPr>
            <a:r>
              <a:t>Customer Shopping Behavior Analysis  |  Data Analyst Presentation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B63"/>
                </a:solidFill>
                <a:latin typeface="Aptos Display"/>
              </a:defRPr>
            </a:pPr>
            <a:r>
              <a:t>Recommended KPI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96E"/>
                </a:solidFill>
                <a:latin typeface="Aptos"/>
              </a:defRPr>
            </a:pPr>
            <a:r>
              <a:t>Use these metrics to measure whether the actions are working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2697480" cy="1005840"/>
          </a:xfrm>
          <a:prstGeom prst="roundRect">
            <a:avLst/>
          </a:prstGeom>
          <a:solidFill>
            <a:srgbClr val="EFF6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207007"/>
            <a:ext cx="24780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ptos Display"/>
              </a:defRPr>
            </a:pPr>
            <a: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700784"/>
            <a:ext cx="2478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696E"/>
                </a:solidFill>
                <a:latin typeface="Aptos"/>
              </a:defRPr>
            </a:pPr>
            <a:r>
              <a:t>Total purchase amount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097280"/>
            <a:ext cx="2697480" cy="1005840"/>
          </a:xfrm>
          <a:prstGeom prst="roundRect">
            <a:avLst/>
          </a:prstGeom>
          <a:solidFill>
            <a:srgbClr val="EFF6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1207007"/>
            <a:ext cx="24780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78254"/>
                </a:solidFill>
                <a:latin typeface="Aptos Display"/>
              </a:defRPr>
            </a:pPr>
            <a:r>
              <a:t>Average Order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1700784"/>
            <a:ext cx="2478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696E"/>
                </a:solidFill>
                <a:latin typeface="Aptos"/>
              </a:defRPr>
            </a:pPr>
            <a:r>
              <a:t>Revenue / orders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097280"/>
            <a:ext cx="2697480" cy="1005840"/>
          </a:xfrm>
          <a:prstGeom prst="roundRect">
            <a:avLst/>
          </a:prstGeom>
          <a:solidFill>
            <a:srgbClr val="EFF6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207007"/>
            <a:ext cx="24780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DE8926"/>
                </a:solidFill>
                <a:latin typeface="Aptos Display"/>
              </a:defRPr>
            </a:pPr>
            <a:r>
              <a:t>Purchase Frequency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700784"/>
            <a:ext cx="2478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696E"/>
                </a:solidFill>
                <a:latin typeface="Aptos"/>
              </a:defRPr>
            </a:pPr>
            <a:r>
              <a:t>Orders per customer / period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097280"/>
            <a:ext cx="2697480" cy="1005840"/>
          </a:xfrm>
          <a:prstGeom prst="roundRect">
            <a:avLst/>
          </a:prstGeom>
          <a:solidFill>
            <a:srgbClr val="EFF6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82328" y="1207007"/>
            <a:ext cx="24780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3B63"/>
                </a:solidFill>
                <a:latin typeface="Aptos Display"/>
              </a:defRPr>
            </a:pPr>
            <a:r>
              <a:t>Repeat Purchase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82328" y="1700784"/>
            <a:ext cx="2478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696E"/>
                </a:solidFill>
                <a:latin typeface="Aptos"/>
              </a:defRPr>
            </a:pPr>
            <a:r>
              <a:t>Customers with repeat purchases / customers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743200"/>
            <a:ext cx="2697480" cy="1005840"/>
          </a:xfrm>
          <a:prstGeom prst="roundRect">
            <a:avLst/>
          </a:prstGeom>
          <a:solidFill>
            <a:srgbClr val="EFF6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852928"/>
            <a:ext cx="24780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ptos Display"/>
              </a:defRPr>
            </a:pPr>
            <a:r>
              <a:t>Discount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346704"/>
            <a:ext cx="2478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696E"/>
                </a:solidFill>
                <a:latin typeface="Aptos"/>
              </a:defRPr>
            </a:pPr>
            <a:r>
              <a:t>Discounted orders / total orders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2743200"/>
            <a:ext cx="2697480" cy="1005840"/>
          </a:xfrm>
          <a:prstGeom prst="roundRect">
            <a:avLst/>
          </a:prstGeom>
          <a:solidFill>
            <a:srgbClr val="EFF6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0168" y="2852928"/>
            <a:ext cx="24780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78254"/>
                </a:solidFill>
                <a:latin typeface="Aptos Display"/>
              </a:defRPr>
            </a:pPr>
            <a:r>
              <a:t>Discount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3346704"/>
            <a:ext cx="2478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696E"/>
                </a:solidFill>
                <a:latin typeface="Aptos"/>
              </a:defRPr>
            </a:pPr>
            <a:r>
              <a:t>Incremental revenue vs. discount cost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2743200"/>
            <a:ext cx="2697480" cy="1005840"/>
          </a:xfrm>
          <a:prstGeom prst="roundRect">
            <a:avLst/>
          </a:prstGeom>
          <a:solidFill>
            <a:srgbClr val="EFF6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2852928"/>
            <a:ext cx="24780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DE8926"/>
                </a:solidFill>
                <a:latin typeface="Aptos Display"/>
              </a:defRPr>
            </a:pPr>
            <a:r>
              <a:t>Return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3346704"/>
            <a:ext cx="2478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696E"/>
                </a:solidFill>
                <a:latin typeface="Aptos"/>
              </a:defRPr>
            </a:pPr>
            <a:r>
              <a:t>Returned orders / total orders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2743200"/>
            <a:ext cx="2697480" cy="1005840"/>
          </a:xfrm>
          <a:prstGeom prst="roundRect">
            <a:avLst/>
          </a:prstGeom>
          <a:solidFill>
            <a:srgbClr val="EFF6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82328" y="2852928"/>
            <a:ext cx="24780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3B63"/>
                </a:solidFill>
                <a:latin typeface="Aptos Display"/>
              </a:defRPr>
            </a:pPr>
            <a:r>
              <a:t>Return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2328" y="3346704"/>
            <a:ext cx="2478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696E"/>
                </a:solidFill>
                <a:latin typeface="Aptos"/>
              </a:defRPr>
            </a:pPr>
            <a:r>
              <a:t>Refund amount / revenue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389120"/>
            <a:ext cx="2697480" cy="1005840"/>
          </a:xfrm>
          <a:prstGeom prst="roundRect">
            <a:avLst/>
          </a:prstGeom>
          <a:solidFill>
            <a:srgbClr val="EFF6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4498848"/>
            <a:ext cx="24780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ptos Display"/>
              </a:defRPr>
            </a:pPr>
            <a:r>
              <a:t>Review Rating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4992624"/>
            <a:ext cx="2478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696E"/>
                </a:solidFill>
                <a:latin typeface="Aptos"/>
              </a:defRPr>
            </a:pPr>
            <a:r>
              <a:t>Average rating by product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0440" y="4389120"/>
            <a:ext cx="2697480" cy="1005840"/>
          </a:xfrm>
          <a:prstGeom prst="roundRect">
            <a:avLst/>
          </a:prstGeom>
          <a:solidFill>
            <a:srgbClr val="EFF6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30168" y="4498848"/>
            <a:ext cx="24780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78254"/>
                </a:solidFill>
                <a:latin typeface="Aptos Display"/>
              </a:defRPr>
            </a:pPr>
            <a:r>
              <a:t>Subscription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0168" y="4992624"/>
            <a:ext cx="2478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696E"/>
                </a:solidFill>
                <a:latin typeface="Aptos"/>
              </a:defRPr>
            </a:pPr>
            <a:r>
              <a:t>Subscribers / customers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6E"/>
                </a:solidFill>
                <a:latin typeface="Aptos"/>
              </a:defRPr>
            </a:pPr>
            <a:r>
              <a:t>Customer Shopping Behavior Analysis  |  Data Analyst Presentation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B63"/>
                </a:solidFill>
                <a:latin typeface="Aptos Display"/>
              </a:defRPr>
            </a:pPr>
            <a:r>
              <a:t>Data Analyst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96E"/>
                </a:solidFill>
                <a:latin typeface="Aptos"/>
              </a:defRPr>
            </a:pPr>
            <a:r>
              <a:t>A practical next step from dashboard → decision → measurement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64008" cy="45262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280160"/>
            <a:ext cx="31272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63"/>
                </a:solidFill>
                <a:latin typeface="Aptos"/>
              </a:defRPr>
            </a:pPr>
            <a:r>
              <a:t>Phase 1 — Establish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312724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Calculate revenue, AOV, repeat purchase rate and discount rate.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Add return-order data to the model.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Create product/category/size return-rate 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14300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143000"/>
            <a:ext cx="64008" cy="4526280"/>
          </a:xfrm>
          <a:prstGeom prst="rect">
            <a:avLst/>
          </a:prstGeom>
          <a:solidFill>
            <a:srgbClr val="27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1280160"/>
            <a:ext cx="31272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63"/>
                </a:solidFill>
                <a:latin typeface="Aptos"/>
              </a:defRPr>
            </a:pPr>
            <a:r>
              <a:t>Phase 2 — Test interventions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1709928"/>
            <a:ext cx="312724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Test product bundles.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Test targeted discounts.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Test repeat-purchase reminders.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Improve product/size information for high-return items.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4300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43000"/>
            <a:ext cx="64008" cy="4526280"/>
          </a:xfrm>
          <a:prstGeom prst="rect">
            <a:avLst/>
          </a:prstGeom>
          <a:solidFill>
            <a:srgbClr val="DE8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280160"/>
            <a:ext cx="31272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63"/>
                </a:solidFill>
                <a:latin typeface="Aptos"/>
              </a:defRPr>
            </a:pPr>
            <a:r>
              <a:t>Phase 3 — Measure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709928"/>
            <a:ext cx="312724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Compare KPI movement before and after each intervention.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Track revenue and return rate together.</a:t>
            </a:r>
          </a:p>
          <a:p>
            <a:pPr>
              <a:spcAft>
                <a:spcPts val="700"/>
              </a:spcAft>
              <a:defRPr sz="1100">
                <a:solidFill>
                  <a:srgbClr val="232323"/>
                </a:solidFill>
                <a:latin typeface="Aptos"/>
              </a:defRPr>
            </a:pPr>
            <a:r>
              <a:t>• Keep changes that improve business outcomes without creating excessive discount cost.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978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23B63"/>
                </a:solidFill>
                <a:latin typeface="Aptos"/>
              </a:defRPr>
            </a:pPr>
            <a:r>
              <a:t>Key message: the current project already supports sales, customer and discount analysis; return reduction requires a return-order dataset before causal conclusions can be made.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6E"/>
                </a:solidFill>
                <a:latin typeface="Aptos"/>
              </a:defRPr>
            </a:pPr>
            <a:r>
              <a:t>Customer Shopping Behavior Analysis  |  Data Analyst Presentation  |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